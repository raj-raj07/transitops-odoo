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Inter" panose="020B0604020202020204" charset="0"/>
      <p:regular r:id="rId13"/>
    </p:embeddedFont>
    <p:embeddedFont>
      <p:font typeface="Petrona Bold" panose="020B0604020202020204" charset="0"/>
      <p:regular r:id="rId1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31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621941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2E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361246" y="203200"/>
            <a:ext cx="11469202" cy="6451600"/>
          </a:xfrm>
          <a:prstGeom prst="rect">
            <a:avLst/>
          </a:prstGeom>
          <a:solidFill>
            <a:srgbClr val="FDFAF7"/>
          </a:solidFill>
          <a:ln w="6350">
            <a:solidFill>
              <a:srgbClr val="E5E0DF"/>
            </a:solidFill>
            <a:prstDash val="solid"/>
          </a:ln>
          <a:effectLst>
            <a:outerShdw blurRad="66040" dist="4445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2E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361246" y="203200"/>
            <a:ext cx="11469202" cy="6451600"/>
          </a:xfrm>
          <a:prstGeom prst="rect">
            <a:avLst/>
          </a:prstGeom>
          <a:solidFill>
            <a:srgbClr val="FDFAF7"/>
          </a:solidFill>
          <a:ln w="6350">
            <a:solidFill>
              <a:srgbClr val="E5E0DF"/>
            </a:solidFill>
            <a:prstDash val="solid"/>
          </a:ln>
          <a:effectLst>
            <a:outerShdw blurRad="55880" dist="3683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2E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361246" y="203200"/>
            <a:ext cx="11469202" cy="6451600"/>
          </a:xfrm>
          <a:prstGeom prst="rect">
            <a:avLst/>
          </a:prstGeom>
          <a:solidFill>
            <a:srgbClr val="FDFAF7"/>
          </a:solidFill>
          <a:ln w="6350">
            <a:solidFill>
              <a:srgbClr val="E5E0DF"/>
            </a:solidFill>
            <a:prstDash val="solid"/>
          </a:ln>
          <a:effectLst>
            <a:outerShdw blurRad="45720" dist="3048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2E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361246" y="203200"/>
            <a:ext cx="11469202" cy="6451600"/>
          </a:xfrm>
          <a:prstGeom prst="rect">
            <a:avLst/>
          </a:prstGeom>
          <a:solidFill>
            <a:srgbClr val="FDFAF7"/>
          </a:solidFill>
          <a:ln w="6350">
            <a:solidFill>
              <a:srgbClr val="E5E0DF"/>
            </a:solidFill>
            <a:prstDash val="solid"/>
          </a:ln>
          <a:effectLst>
            <a:outerShdw blurRad="43180" dist="2794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2E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361246" y="203200"/>
            <a:ext cx="11469202" cy="6451600"/>
          </a:xfrm>
          <a:prstGeom prst="rect">
            <a:avLst/>
          </a:prstGeom>
          <a:solidFill>
            <a:srgbClr val="FDFAF7"/>
          </a:solidFill>
          <a:ln w="6350">
            <a:solidFill>
              <a:srgbClr val="E5E0DF"/>
            </a:solidFill>
            <a:prstDash val="solid"/>
          </a:ln>
          <a:effectLst>
            <a:outerShdw blurRad="36830" dist="2413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2E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361246" y="203200"/>
            <a:ext cx="11469202" cy="6451600"/>
          </a:xfrm>
          <a:prstGeom prst="rect">
            <a:avLst/>
          </a:prstGeom>
          <a:solidFill>
            <a:srgbClr val="FDFAF7"/>
          </a:solidFill>
          <a:ln w="6350">
            <a:solidFill>
              <a:srgbClr val="E5E0DF"/>
            </a:solidFill>
            <a:prstDash val="solid"/>
          </a:ln>
          <a:effectLst>
            <a:outerShdw blurRad="48260" dist="3175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12" Type="http://schemas.openxmlformats.org/officeDocument/2006/relationships/image" Target="../media/image18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svg"/><Relationship Id="rId7" Type="http://schemas.openxmlformats.org/officeDocument/2006/relationships/image" Target="../media/image3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svg"/><Relationship Id="rId5" Type="http://schemas.openxmlformats.org/officeDocument/2006/relationships/image" Target="../media/image29.svg"/><Relationship Id="rId4" Type="http://schemas.openxmlformats.org/officeDocument/2006/relationships/image" Target="../media/image28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12" Type="http://schemas.openxmlformats.org/officeDocument/2006/relationships/image" Target="../media/image4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11" Type="http://schemas.openxmlformats.org/officeDocument/2006/relationships/image" Target="../media/image40.png"/><Relationship Id="rId5" Type="http://schemas.openxmlformats.org/officeDocument/2006/relationships/image" Target="../media/image34.png"/><Relationship Id="rId10" Type="http://schemas.openxmlformats.org/officeDocument/2006/relationships/image" Target="../media/image39.png"/><Relationship Id="rId4" Type="http://schemas.openxmlformats.org/officeDocument/2006/relationships/image" Target="../media/image33.png"/><Relationship Id="rId9" Type="http://schemas.openxmlformats.org/officeDocument/2006/relationships/image" Target="../media/image3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83531" y="1211461"/>
            <a:ext cx="10224633" cy="611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850" b="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TransitOps</a:t>
            </a:r>
            <a:endParaRPr lang="en-US" sz="3850" dirty="0"/>
          </a:p>
        </p:txBody>
      </p:sp>
      <p:sp>
        <p:nvSpPr>
          <p:cNvPr id="3" name="Text 1"/>
          <p:cNvSpPr/>
          <p:nvPr/>
        </p:nvSpPr>
        <p:spPr>
          <a:xfrm>
            <a:off x="983531" y="1893788"/>
            <a:ext cx="10224633" cy="3055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Smart Transport Operations Platform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983531" y="2466082"/>
            <a:ext cx="10834218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  Odoo Hackathon · Team: Velocity Labs · Date: 2026   </a:t>
            </a:r>
            <a:endParaRPr lang="en-US" sz="14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3531" y="2950567"/>
            <a:ext cx="1385853" cy="138588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83531" y="4558705"/>
            <a:ext cx="2389425" cy="3055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Aditya Raj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983531" y="4970959"/>
            <a:ext cx="2389425" cy="675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Backend Lead</a:t>
            </a:r>
            <a:endParaRPr lang="en-US" sz="14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F4C5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Badge:</a:t>
            </a: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API, &amp; Data Integrity </a:t>
            </a:r>
            <a:endParaRPr lang="en-US" sz="14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95201" y="2950567"/>
            <a:ext cx="1385853" cy="1385887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595201" y="4558705"/>
            <a:ext cx="2389525" cy="3055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Sujal Raj</a:t>
            </a:r>
            <a:endParaRPr lang="en-US" sz="1900" dirty="0"/>
          </a:p>
        </p:txBody>
      </p:sp>
      <p:sp>
        <p:nvSpPr>
          <p:cNvPr id="10" name="Text 6"/>
          <p:cNvSpPr/>
          <p:nvPr/>
        </p:nvSpPr>
        <p:spPr>
          <a:xfrm>
            <a:off x="3595201" y="4970959"/>
            <a:ext cx="2389525" cy="675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Frontend Lead</a:t>
            </a:r>
            <a:endParaRPr lang="en-US" sz="14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F4C5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Badge:</a:t>
            </a: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UI &amp; Dashboard</a:t>
            </a:r>
            <a:endParaRPr lang="en-US" sz="14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06970" y="2950567"/>
            <a:ext cx="1385853" cy="1385887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206970" y="4558705"/>
            <a:ext cx="2389425" cy="3055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Ayushi</a:t>
            </a:r>
            <a:endParaRPr lang="en-US" sz="1900" dirty="0"/>
          </a:p>
        </p:txBody>
      </p:sp>
      <p:sp>
        <p:nvSpPr>
          <p:cNvPr id="13" name="Text 8"/>
          <p:cNvSpPr/>
          <p:nvPr/>
        </p:nvSpPr>
        <p:spPr>
          <a:xfrm>
            <a:off x="6206970" y="4970959"/>
            <a:ext cx="2389425" cy="675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Debugging &amp; Testing</a:t>
            </a:r>
            <a:endParaRPr lang="en-US" sz="14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F4C5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Badge:</a:t>
            </a: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Support Developer</a:t>
            </a:r>
            <a:endParaRPr lang="en-US" sz="14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18640" y="2950567"/>
            <a:ext cx="1385853" cy="1385887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8818640" y="4558705"/>
            <a:ext cx="2389525" cy="3055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Keshav Ranjan</a:t>
            </a:r>
            <a:endParaRPr lang="en-US" sz="1900" dirty="0"/>
          </a:p>
        </p:txBody>
      </p:sp>
      <p:sp>
        <p:nvSpPr>
          <p:cNvPr id="16" name="Text 10"/>
          <p:cNvSpPr/>
          <p:nvPr/>
        </p:nvSpPr>
        <p:spPr>
          <a:xfrm>
            <a:off x="8818640" y="4970959"/>
            <a:ext cx="2389525" cy="675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QA &amp; Support Developer</a:t>
            </a:r>
            <a:endParaRPr lang="en-US" sz="14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F4C5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Badge:</a:t>
            </a: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QA &amp; Reliability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reveal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83531" y="873026"/>
            <a:ext cx="10224633" cy="519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b="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Problem Statement</a:t>
            </a:r>
            <a:endParaRPr lang="en-US" sz="3250" dirty="0"/>
          </a:p>
        </p:txBody>
      </p:sp>
      <p:sp>
        <p:nvSpPr>
          <p:cNvPr id="3" name="Shape 1"/>
          <p:cNvSpPr/>
          <p:nvPr/>
        </p:nvSpPr>
        <p:spPr>
          <a:xfrm>
            <a:off x="983531" y="1649413"/>
            <a:ext cx="5048124" cy="2800052"/>
          </a:xfrm>
          <a:prstGeom prst="roundRect">
            <a:avLst>
              <a:gd name="adj" fmla="val 2267"/>
            </a:avLst>
          </a:prstGeom>
          <a:solidFill>
            <a:srgbClr val="E0D7F4"/>
          </a:solidFill>
          <a:ln w="6350">
            <a:solidFill>
              <a:srgbClr val="C6BD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1140987" y="1806873"/>
            <a:ext cx="453418" cy="453430"/>
          </a:xfrm>
          <a:prstGeom prst="ellipse">
            <a:avLst/>
          </a:prstGeom>
          <a:solidFill>
            <a:srgbClr val="6237C8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65702" y="1931591"/>
            <a:ext cx="203989" cy="20399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0987" y="2388691"/>
            <a:ext cx="4733211" cy="2597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Current Industry Problems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140987" y="2725440"/>
            <a:ext cx="4733211" cy="15665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33680" indent="-233680" algn="l">
              <a:lnSpc>
                <a:spcPct val="123000"/>
              </a:lnSpc>
              <a:buSzPct val="100000"/>
              <a:buChar char="•"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Spreadsheets</a:t>
            </a:r>
            <a:endParaRPr lang="en-US" sz="1150" dirty="0"/>
          </a:p>
          <a:p>
            <a:pPr marL="233680" indent="-233680" algn="l">
              <a:lnSpc>
                <a:spcPct val="123000"/>
              </a:lnSpc>
              <a:buSzPct val="100000"/>
              <a:buChar char="•"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Paper Logbooks</a:t>
            </a:r>
            <a:endParaRPr lang="en-US" sz="1150" dirty="0"/>
          </a:p>
          <a:p>
            <a:pPr marL="233680" indent="-233680" algn="l">
              <a:lnSpc>
                <a:spcPct val="123000"/>
              </a:lnSpc>
              <a:buSzPct val="100000"/>
              <a:buChar char="•"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Manual Dispatch</a:t>
            </a:r>
            <a:endParaRPr lang="en-US" sz="1150" dirty="0"/>
          </a:p>
          <a:p>
            <a:pPr marL="233680" indent="-233680" algn="l">
              <a:lnSpc>
                <a:spcPct val="123000"/>
              </a:lnSpc>
              <a:buSzPct val="100000"/>
              <a:buChar char="•"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Manual Maintenance Tracking</a:t>
            </a:r>
            <a:endParaRPr lang="en-US" sz="1150" dirty="0"/>
          </a:p>
          <a:p>
            <a:pPr marL="233680" indent="-233680" algn="l">
              <a:lnSpc>
                <a:spcPct val="123000"/>
              </a:lnSpc>
              <a:buSzPct val="100000"/>
              <a:buChar char="•"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Poor Expense Tracking</a:t>
            </a:r>
            <a:endParaRPr lang="en-US" sz="1150" dirty="0"/>
          </a:p>
          <a:p>
            <a:pPr marL="233680" indent="-233680" algn="l">
              <a:lnSpc>
                <a:spcPct val="123000"/>
              </a:lnSpc>
              <a:buSzPct val="100000"/>
              <a:buChar char="•"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Lack of Operational Visibility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160040" y="1649413"/>
            <a:ext cx="5048124" cy="2800052"/>
          </a:xfrm>
          <a:prstGeom prst="roundRect">
            <a:avLst>
              <a:gd name="adj" fmla="val 2267"/>
            </a:avLst>
          </a:prstGeom>
          <a:solidFill>
            <a:srgbClr val="E0D7F4"/>
          </a:solidFill>
          <a:ln w="6350">
            <a:solidFill>
              <a:srgbClr val="C6BD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6"/>
          <p:cNvSpPr/>
          <p:nvPr/>
        </p:nvSpPr>
        <p:spPr>
          <a:xfrm>
            <a:off x="6317497" y="1806873"/>
            <a:ext cx="453418" cy="453430"/>
          </a:xfrm>
          <a:prstGeom prst="ellipse">
            <a:avLst/>
          </a:prstGeom>
          <a:solidFill>
            <a:srgbClr val="6237C8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42211" y="1931591"/>
            <a:ext cx="203989" cy="20399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317497" y="2388691"/>
            <a:ext cx="4733211" cy="2597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Business Challenges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6317497" y="2725440"/>
            <a:ext cx="4733211" cy="1297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33680" indent="-233680" algn="l">
              <a:lnSpc>
                <a:spcPct val="123000"/>
              </a:lnSpc>
              <a:buSzPct val="100000"/>
              <a:buChar char="•"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Scheduling Conflicts</a:t>
            </a:r>
            <a:endParaRPr lang="en-US" sz="1150" dirty="0"/>
          </a:p>
          <a:p>
            <a:pPr marL="233680" indent="-233680" algn="l">
              <a:lnSpc>
                <a:spcPct val="123000"/>
              </a:lnSpc>
              <a:buSzPct val="100000"/>
              <a:buChar char="•"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Underutilized Vehicles</a:t>
            </a:r>
            <a:endParaRPr lang="en-US" sz="1150" dirty="0"/>
          </a:p>
          <a:p>
            <a:pPr marL="233680" indent="-233680" algn="l">
              <a:lnSpc>
                <a:spcPct val="123000"/>
              </a:lnSpc>
              <a:buSzPct val="100000"/>
              <a:buChar char="•"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Missed Maintenance</a:t>
            </a:r>
            <a:endParaRPr lang="en-US" sz="1150" dirty="0"/>
          </a:p>
          <a:p>
            <a:pPr marL="233680" indent="-233680" algn="l">
              <a:lnSpc>
                <a:spcPct val="123000"/>
              </a:lnSpc>
              <a:buSzPct val="100000"/>
              <a:buChar char="•"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Expired Driver Licenses</a:t>
            </a:r>
            <a:endParaRPr lang="en-US" sz="1150" dirty="0"/>
          </a:p>
          <a:p>
            <a:pPr marL="233680" indent="-233680" algn="l">
              <a:lnSpc>
                <a:spcPct val="123000"/>
              </a:lnSpc>
              <a:buSzPct val="100000"/>
              <a:buChar char="•"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 Operational Cost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983531" y="4631630"/>
            <a:ext cx="10224633" cy="19050"/>
          </a:xfrm>
          <a:prstGeom prst="roundRect">
            <a:avLst>
              <a:gd name="adj" fmla="val 59999"/>
            </a:avLst>
          </a:prstGeom>
          <a:solidFill>
            <a:srgbClr val="272525">
              <a:alpha val="5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0"/>
          <p:cNvSpPr/>
          <p:nvPr/>
        </p:nvSpPr>
        <p:spPr>
          <a:xfrm>
            <a:off x="678738" y="4832846"/>
            <a:ext cx="10834218" cy="223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3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  </a:t>
            </a:r>
            <a:r>
              <a:rPr lang="en-US" sz="1150" dirty="0">
                <a:solidFill>
                  <a:srgbClr val="44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Traditional fleet management is inefficient, disconnected, and prone to human error.</a:t>
            </a: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</a:t>
            </a:r>
            <a:endParaRPr lang="en-US" sz="1150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83531" y="5200948"/>
            <a:ext cx="377816" cy="377825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521878" y="5200948"/>
            <a:ext cx="4493703" cy="2597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Logistics Icons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1521878" y="5537696"/>
            <a:ext cx="4493703" cy="4472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Visual markers for routes, vehicles, and status to improve situational awareness.</a:t>
            </a:r>
            <a:endParaRPr lang="en-US" sz="1150" dirty="0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176113" y="5200948"/>
            <a:ext cx="377816" cy="377825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714461" y="5200948"/>
            <a:ext cx="4493703" cy="2597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Auditability</a:t>
            </a:r>
            <a:endParaRPr lang="en-US" sz="1600" dirty="0"/>
          </a:p>
        </p:txBody>
      </p:sp>
      <p:sp>
        <p:nvSpPr>
          <p:cNvPr id="20" name="Text 14"/>
          <p:cNvSpPr/>
          <p:nvPr/>
        </p:nvSpPr>
        <p:spPr>
          <a:xfrm>
            <a:off x="6714461" y="5537696"/>
            <a:ext cx="4493703" cy="223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Replace paper trails with verifiable digital records.</a:t>
            </a:r>
            <a:endParaRPr lang="en-US" sz="11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83531" y="724595"/>
            <a:ext cx="10224633" cy="427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50" b="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Our Solution</a:t>
            </a:r>
            <a:endParaRPr lang="en-US" sz="2650" dirty="0"/>
          </a:p>
        </p:txBody>
      </p:sp>
      <p:sp>
        <p:nvSpPr>
          <p:cNvPr id="3" name="Text 1"/>
          <p:cNvSpPr/>
          <p:nvPr/>
        </p:nvSpPr>
        <p:spPr>
          <a:xfrm>
            <a:off x="983531" y="1187252"/>
            <a:ext cx="10224633" cy="2139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TransitOps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83531" y="1531838"/>
            <a:ext cx="10834218" cy="1692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  A centralized ERP platform that manages the complete transport lifecycle — from vehicle onboarding to analytics-driven optimization.   </a:t>
            </a:r>
            <a:endParaRPr lang="en-US" sz="9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3531" y="2633663"/>
            <a:ext cx="414029" cy="414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06401" y="2633663"/>
            <a:ext cx="2166090" cy="2139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Authentication</a:t>
            </a:r>
            <a:endParaRPr lang="en-US" sz="13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81330" y="2633663"/>
            <a:ext cx="414029" cy="4140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304200" y="2633663"/>
            <a:ext cx="2166189" cy="2139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Vehicle Management</a:t>
            </a:r>
            <a:endParaRPr lang="en-US" sz="13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3531" y="3221930"/>
            <a:ext cx="414029" cy="41404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506401" y="3221930"/>
            <a:ext cx="2166090" cy="2139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Driver Management</a:t>
            </a:r>
            <a:endParaRPr lang="en-US" sz="13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81330" y="3221930"/>
            <a:ext cx="414029" cy="41404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4304200" y="3221930"/>
            <a:ext cx="2166189" cy="2139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Trip Management</a:t>
            </a:r>
            <a:endParaRPr lang="en-US" sz="13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3531" y="3810198"/>
            <a:ext cx="414029" cy="41404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506401" y="3810198"/>
            <a:ext cx="2166090" cy="2139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Maintenance</a:t>
            </a:r>
            <a:endParaRPr lang="en-US" sz="1300" dirty="0"/>
          </a:p>
        </p:txBody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81330" y="3810198"/>
            <a:ext cx="414029" cy="414040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4304200" y="3810198"/>
            <a:ext cx="2166189" cy="2139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Fuel Tracking</a:t>
            </a:r>
            <a:endParaRPr lang="en-US" sz="1300" dirty="0"/>
          </a:p>
        </p:txBody>
      </p:sp>
      <p:pic>
        <p:nvPicPr>
          <p:cNvPr id="17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83531" y="4398466"/>
            <a:ext cx="414029" cy="414040"/>
          </a:xfrm>
          <a:prstGeom prst="rect">
            <a:avLst/>
          </a:prstGeom>
        </p:spPr>
      </p:pic>
      <p:sp>
        <p:nvSpPr>
          <p:cNvPr id="18" name="Text 9"/>
          <p:cNvSpPr/>
          <p:nvPr/>
        </p:nvSpPr>
        <p:spPr>
          <a:xfrm>
            <a:off x="1506401" y="4398466"/>
            <a:ext cx="2166090" cy="2139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Analytics Dashboard</a:t>
            </a:r>
            <a:endParaRPr lang="en-US" sz="1300" dirty="0"/>
          </a:p>
        </p:txBody>
      </p:sp>
      <p:pic>
        <p:nvPicPr>
          <p:cNvPr id="1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781330" y="4398466"/>
            <a:ext cx="414029" cy="414040"/>
          </a:xfrm>
          <a:prstGeom prst="rect">
            <a:avLst/>
          </a:prstGeom>
        </p:spPr>
      </p:pic>
      <p:sp>
        <p:nvSpPr>
          <p:cNvPr id="20" name="Text 10"/>
          <p:cNvSpPr/>
          <p:nvPr/>
        </p:nvSpPr>
        <p:spPr>
          <a:xfrm>
            <a:off x="4304200" y="4398466"/>
            <a:ext cx="2166189" cy="2139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Reports</a:t>
            </a:r>
            <a:endParaRPr lang="en-US" sz="1300" dirty="0"/>
          </a:p>
        </p:txBody>
      </p:sp>
      <p:sp>
        <p:nvSpPr>
          <p:cNvPr id="21" name="Shape 11"/>
          <p:cNvSpPr/>
          <p:nvPr/>
        </p:nvSpPr>
        <p:spPr>
          <a:xfrm>
            <a:off x="983531" y="4910435"/>
            <a:ext cx="5486858" cy="388144"/>
          </a:xfrm>
          <a:prstGeom prst="roundRect">
            <a:avLst>
              <a:gd name="adj" fmla="val 13469"/>
            </a:avLst>
          </a:prstGeom>
          <a:solidFill>
            <a:srgbClr val="E0D7F4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2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07948" y="5083969"/>
            <a:ext cx="155571" cy="124420"/>
          </a:xfrm>
          <a:prstGeom prst="rect">
            <a:avLst/>
          </a:prstGeom>
        </p:spPr>
      </p:pic>
      <p:sp>
        <p:nvSpPr>
          <p:cNvPr id="23" name="Text 12"/>
          <p:cNvSpPr/>
          <p:nvPr/>
        </p:nvSpPr>
        <p:spPr>
          <a:xfrm>
            <a:off x="1387936" y="5019873"/>
            <a:ext cx="5567620" cy="1692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Platform to Manage the Entire Transport Operation</a:t>
            </a:r>
            <a:endParaRPr lang="en-US" sz="950" dirty="0"/>
          </a:p>
        </p:txBody>
      </p:sp>
      <p:pic>
        <p:nvPicPr>
          <p:cNvPr id="24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445486" y="1896963"/>
            <a:ext cx="3103783" cy="413841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83531" y="766465"/>
            <a:ext cx="10224633" cy="519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b="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System Workflow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983531" y="1542852"/>
            <a:ext cx="10834218" cy="223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  End-to-end vertical workflow mapping the user journey from login to insights.   </a:t>
            </a:r>
            <a:endParaRPr lang="en-US" sz="11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0373" y="1910953"/>
            <a:ext cx="8690849" cy="381238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384182" y="4707424"/>
            <a:ext cx="1313508" cy="258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Dashboard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4384182" y="5033032"/>
            <a:ext cx="1313508" cy="3480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6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Overview and system alerts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8556885" y="4448714"/>
            <a:ext cx="1313508" cy="517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Register Drivers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556885" y="5033032"/>
            <a:ext cx="1313508" cy="3480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6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Capture licenses and approvals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2343822" y="2253600"/>
            <a:ext cx="1313508" cy="258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Login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2343822" y="2579208"/>
            <a:ext cx="1313508" cy="3480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6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Authenticate and validate user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6499801" y="2253600"/>
            <a:ext cx="1313508" cy="517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Register Vehicles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499801" y="2837918"/>
            <a:ext cx="1313508" cy="5221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6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 vehicle records with checks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983531" y="5867797"/>
            <a:ext cx="10834218" cy="223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Each step enforces validation and triggers automated updates — reducing manual handoffs and errors.</a:t>
            </a:r>
            <a:endParaRPr lang="en-US" sz="11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83531" y="815479"/>
            <a:ext cx="10224633" cy="427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50" b="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Core Modules</a:t>
            </a:r>
            <a:endParaRPr lang="en-US" sz="26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0796" y="1417538"/>
            <a:ext cx="1681120" cy="168116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83531" y="3207544"/>
            <a:ext cx="3335651" cy="2139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Vehicle Management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983531" y="3473648"/>
            <a:ext cx="3335651" cy="1692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3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Registration · Capacity · Odometer · Status</a:t>
            </a:r>
            <a:endParaRPr lang="en-US" sz="9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5287" y="1417538"/>
            <a:ext cx="1681120" cy="168116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428022" y="3207544"/>
            <a:ext cx="3335651" cy="2139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Driver Management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4428022" y="3473648"/>
            <a:ext cx="3335651" cy="1692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3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License Validation · Safety Score · Status</a:t>
            </a:r>
            <a:endParaRPr lang="en-US" sz="9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9778" y="1417538"/>
            <a:ext cx="1681120" cy="168116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872513" y="3207544"/>
            <a:ext cx="3335651" cy="2139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Trip Management</a:t>
            </a:r>
            <a:endParaRPr lang="en-US" sz="1300" dirty="0"/>
          </a:p>
        </p:txBody>
      </p:sp>
      <p:sp>
        <p:nvSpPr>
          <p:cNvPr id="11" name="Text 6"/>
          <p:cNvSpPr/>
          <p:nvPr/>
        </p:nvSpPr>
        <p:spPr>
          <a:xfrm>
            <a:off x="7872513" y="3473648"/>
            <a:ext cx="3335651" cy="1692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3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Dispatch · Cargo Validation · Live Status</a:t>
            </a:r>
            <a:endParaRPr lang="en-US" sz="9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10796" y="3817144"/>
            <a:ext cx="1681120" cy="168116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83531" y="5607149"/>
            <a:ext cx="3335651" cy="2139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Maintenance</a:t>
            </a:r>
            <a:endParaRPr lang="en-US" sz="1300" dirty="0"/>
          </a:p>
        </p:txBody>
      </p:sp>
      <p:sp>
        <p:nvSpPr>
          <p:cNvPr id="14" name="Text 8"/>
          <p:cNvSpPr/>
          <p:nvPr/>
        </p:nvSpPr>
        <p:spPr>
          <a:xfrm>
            <a:off x="983531" y="5873254"/>
            <a:ext cx="3335651" cy="1692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3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Service Logs · Repair History · Alerts</a:t>
            </a:r>
            <a:endParaRPr lang="en-US" sz="9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55287" y="3817144"/>
            <a:ext cx="1681120" cy="1681163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4428022" y="5607149"/>
            <a:ext cx="3335651" cy="2139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Fuel &amp; Expense</a:t>
            </a:r>
            <a:endParaRPr lang="en-US" sz="1300" dirty="0"/>
          </a:p>
        </p:txBody>
      </p:sp>
      <p:sp>
        <p:nvSpPr>
          <p:cNvPr id="17" name="Text 10"/>
          <p:cNvSpPr/>
          <p:nvPr/>
        </p:nvSpPr>
        <p:spPr>
          <a:xfrm>
            <a:off x="4428022" y="5873254"/>
            <a:ext cx="3335651" cy="1692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3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Fuel Logs · Operational Cost · Analytics</a:t>
            </a:r>
            <a:endParaRPr lang="en-US" sz="95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99778" y="3817144"/>
            <a:ext cx="1681120" cy="1681163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7872513" y="5607149"/>
            <a:ext cx="3335651" cy="2139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Reports</a:t>
            </a:r>
            <a:endParaRPr lang="en-US" sz="1300" dirty="0"/>
          </a:p>
        </p:txBody>
      </p:sp>
      <p:sp>
        <p:nvSpPr>
          <p:cNvPr id="20" name="Text 12"/>
          <p:cNvSpPr/>
          <p:nvPr/>
        </p:nvSpPr>
        <p:spPr>
          <a:xfrm>
            <a:off x="7872513" y="5873254"/>
            <a:ext cx="3335651" cy="1692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3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Fleet Utilization · ROI · Fuel Efficiency</a:t>
            </a:r>
            <a:endParaRPr lang="en-US" sz="9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83531" y="795635"/>
            <a:ext cx="10224633" cy="397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00" b="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Business Rules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983531" y="1343223"/>
            <a:ext cx="10834218" cy="1524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Operational guardrails encoded as automated validations and dispatch logic.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983531" y="1580158"/>
            <a:ext cx="3358074" cy="455017"/>
          </a:xfrm>
          <a:prstGeom prst="roundRect">
            <a:avLst>
              <a:gd name="adj" fmla="val 10669"/>
            </a:avLst>
          </a:prstGeom>
          <a:solidFill>
            <a:srgbClr val="FDFAF7"/>
          </a:solidFill>
          <a:ln w="12700">
            <a:solidFill>
              <a:srgbClr val="C6BD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1111718" y="1708348"/>
            <a:ext cx="3101699" cy="198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✓ Unique Vehicle Registration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416711" y="1580158"/>
            <a:ext cx="3358173" cy="455017"/>
          </a:xfrm>
          <a:prstGeom prst="roundRect">
            <a:avLst>
              <a:gd name="adj" fmla="val 10669"/>
            </a:avLst>
          </a:prstGeom>
          <a:solidFill>
            <a:srgbClr val="FDFAF7"/>
          </a:solidFill>
          <a:ln w="12700">
            <a:solidFill>
              <a:srgbClr val="C6BD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4544899" y="1708348"/>
            <a:ext cx="3101798" cy="198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✓ Driver License Validation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849991" y="1580158"/>
            <a:ext cx="3358173" cy="455017"/>
          </a:xfrm>
          <a:prstGeom prst="roundRect">
            <a:avLst>
              <a:gd name="adj" fmla="val 10669"/>
            </a:avLst>
          </a:prstGeom>
          <a:solidFill>
            <a:srgbClr val="FDFAF7"/>
          </a:solidFill>
          <a:ln w="12700">
            <a:solidFill>
              <a:srgbClr val="C6BD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7978179" y="1708348"/>
            <a:ext cx="3101798" cy="198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✓ Cargo Capacity Validation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83531" y="2110284"/>
            <a:ext cx="3358074" cy="455017"/>
          </a:xfrm>
          <a:prstGeom prst="roundRect">
            <a:avLst>
              <a:gd name="adj" fmla="val 10669"/>
            </a:avLst>
          </a:prstGeom>
          <a:solidFill>
            <a:srgbClr val="FDFAF7"/>
          </a:solidFill>
          <a:ln w="12700">
            <a:solidFill>
              <a:srgbClr val="C6BD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1111718" y="2238474"/>
            <a:ext cx="3101699" cy="198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✓ No Duplicate Vehicle Assignment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416711" y="2110284"/>
            <a:ext cx="3358173" cy="455017"/>
          </a:xfrm>
          <a:prstGeom prst="roundRect">
            <a:avLst>
              <a:gd name="adj" fmla="val 10669"/>
            </a:avLst>
          </a:prstGeom>
          <a:solidFill>
            <a:srgbClr val="FDFAF7"/>
          </a:solidFill>
          <a:ln w="12700">
            <a:solidFill>
              <a:srgbClr val="C6BD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4544899" y="2238474"/>
            <a:ext cx="3101798" cy="198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✓ No Duplicate Driver Assignment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849991" y="2110284"/>
            <a:ext cx="3358173" cy="455017"/>
          </a:xfrm>
          <a:prstGeom prst="roundRect">
            <a:avLst>
              <a:gd name="adj" fmla="val 10669"/>
            </a:avLst>
          </a:prstGeom>
          <a:solidFill>
            <a:srgbClr val="FDFAF7"/>
          </a:solidFill>
          <a:ln w="12700">
            <a:solidFill>
              <a:srgbClr val="C6BD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7978179" y="2238474"/>
            <a:ext cx="3101798" cy="198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✓ Automatic Status Updates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83531" y="2640409"/>
            <a:ext cx="10224633" cy="455017"/>
          </a:xfrm>
          <a:prstGeom prst="roundRect">
            <a:avLst>
              <a:gd name="adj" fmla="val 10669"/>
            </a:avLst>
          </a:prstGeom>
          <a:solidFill>
            <a:srgbClr val="FDFAF7"/>
          </a:solidFill>
          <a:ln w="12700">
            <a:solidFill>
              <a:srgbClr val="C6BD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1111718" y="2768600"/>
            <a:ext cx="9968258" cy="198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✓ Maintenance Auto Blocks Dispatch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983531" y="3208734"/>
            <a:ext cx="10224633" cy="12700"/>
          </a:xfrm>
          <a:prstGeom prst="roundRect">
            <a:avLst>
              <a:gd name="adj" fmla="val 59999"/>
            </a:avLst>
          </a:prstGeom>
          <a:solidFill>
            <a:srgbClr val="272525">
              <a:alpha val="50000"/>
            </a:srgbClr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9240" y="3334742"/>
            <a:ext cx="6353214" cy="2490688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3071334" y="3456891"/>
            <a:ext cx="1163013" cy="205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Available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7957233" y="3456891"/>
            <a:ext cx="1163013" cy="205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Dispatch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7957233" y="5497613"/>
            <a:ext cx="1163013" cy="205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On Trip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3071334" y="5497613"/>
            <a:ext cx="1163013" cy="205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Completed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983531" y="5909866"/>
            <a:ext cx="10834218" cy="1524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Automation enforces rules in real-time to minimize human error and idle time.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83531" y="720824"/>
            <a:ext cx="10224633" cy="611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850" b="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Technology Stack</a:t>
            </a:r>
            <a:endParaRPr lang="en-US" sz="38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83531" y="1798836"/>
            <a:ext cx="444489" cy="444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50264" y="1798836"/>
            <a:ext cx="4228697" cy="3055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Frontend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1650264" y="2282230"/>
            <a:ext cx="4228697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HTML5 · CSS3 · JavaScript(Vanilla java script)</a:t>
            </a:r>
            <a:endParaRPr lang="en-US" sz="14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83531" y="2922290"/>
            <a:ext cx="444489" cy="4445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650264" y="2922290"/>
            <a:ext cx="4228697" cy="3055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Backend</a:t>
            </a:r>
            <a:endParaRPr lang="en-US" sz="1900" dirty="0"/>
          </a:p>
        </p:txBody>
      </p:sp>
      <p:sp>
        <p:nvSpPr>
          <p:cNvPr id="8" name="Text 4"/>
          <p:cNvSpPr/>
          <p:nvPr/>
        </p:nvSpPr>
        <p:spPr>
          <a:xfrm>
            <a:off x="1650264" y="3405684"/>
            <a:ext cx="4228697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Spring Boot (Java)  · Authentication</a:t>
            </a:r>
            <a:endParaRPr lang="en-US" sz="14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83531" y="4045744"/>
            <a:ext cx="444489" cy="4445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650264" y="4045744"/>
            <a:ext cx="4228697" cy="3055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Database</a:t>
            </a:r>
            <a:endParaRPr lang="en-US" sz="1900" dirty="0"/>
          </a:p>
        </p:txBody>
      </p:sp>
      <p:sp>
        <p:nvSpPr>
          <p:cNvPr id="11" name="Text 6"/>
          <p:cNvSpPr/>
          <p:nvPr/>
        </p:nvSpPr>
        <p:spPr>
          <a:xfrm>
            <a:off x="1650264" y="4529138"/>
            <a:ext cx="4228697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PostgreSQL / MySQL (relational storage)</a:t>
            </a:r>
            <a:endParaRPr lang="en-US" sz="14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83531" y="5169198"/>
            <a:ext cx="444489" cy="44450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650264" y="5169198"/>
            <a:ext cx="4228697" cy="3055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Tools</a:t>
            </a:r>
            <a:endParaRPr lang="en-US" sz="1900" dirty="0"/>
          </a:p>
        </p:txBody>
      </p:sp>
      <p:sp>
        <p:nvSpPr>
          <p:cNvPr id="14" name="Text 8"/>
          <p:cNvSpPr/>
          <p:nvPr/>
        </p:nvSpPr>
        <p:spPr>
          <a:xfrm>
            <a:off x="1650264" y="5652591"/>
            <a:ext cx="4228697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 · GitHub · VS Code</a:t>
            </a:r>
            <a:endParaRPr lang="en-US" sz="14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19084" y="2116435"/>
            <a:ext cx="4895430" cy="2774057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6319084" y="5090517"/>
            <a:ext cx="4895430" cy="56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Designed for modularity and integrations — ready for Odoo connectors and telematics APIs.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83531" y="1430933"/>
            <a:ext cx="10224633" cy="611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850" b="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Key Features</a:t>
            </a:r>
            <a:endParaRPr lang="en-US" sz="38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3531" y="2397820"/>
            <a:ext cx="525648" cy="52566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731423" y="2397820"/>
            <a:ext cx="1641533" cy="611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Authentication</a:t>
            </a:r>
            <a:endParaRPr lang="en-US" sz="19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95201" y="2397820"/>
            <a:ext cx="525648" cy="525661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343093" y="2397820"/>
            <a:ext cx="1641632" cy="3055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Dashboard</a:t>
            </a:r>
            <a:endParaRPr lang="en-US" sz="19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06970" y="2397820"/>
            <a:ext cx="525648" cy="525661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954862" y="2397820"/>
            <a:ext cx="1641533" cy="3055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Vehicle CRUD</a:t>
            </a:r>
            <a:endParaRPr lang="en-US" sz="190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18640" y="2397820"/>
            <a:ext cx="525648" cy="525661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9566532" y="2397820"/>
            <a:ext cx="1641632" cy="3055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Driver CRUD</a:t>
            </a:r>
            <a:endParaRPr lang="en-US" sz="1900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3531" y="3364607"/>
            <a:ext cx="525648" cy="525661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1731423" y="3364607"/>
            <a:ext cx="1641533" cy="611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Trip Management</a:t>
            </a:r>
            <a:endParaRPr lang="en-US" sz="1900" dirty="0"/>
          </a:p>
        </p:txBody>
      </p:sp>
      <p:pic>
        <p:nvPicPr>
          <p:cNvPr id="1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95201" y="3364607"/>
            <a:ext cx="525648" cy="525661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4343093" y="3364607"/>
            <a:ext cx="1641632" cy="611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Maintenance Workflow</a:t>
            </a:r>
            <a:endParaRPr lang="en-US" sz="1900" dirty="0"/>
          </a:p>
        </p:txBody>
      </p:sp>
      <p:pic>
        <p:nvPicPr>
          <p:cNvPr id="15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06970" y="3364607"/>
            <a:ext cx="525648" cy="525661"/>
          </a:xfrm>
          <a:prstGeom prst="rect">
            <a:avLst/>
          </a:prstGeom>
        </p:spPr>
      </p:pic>
      <p:sp>
        <p:nvSpPr>
          <p:cNvPr id="16" name="Text 7"/>
          <p:cNvSpPr/>
          <p:nvPr/>
        </p:nvSpPr>
        <p:spPr>
          <a:xfrm>
            <a:off x="6954862" y="3364607"/>
            <a:ext cx="1641533" cy="3055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Fuel Tracking</a:t>
            </a:r>
            <a:endParaRPr lang="en-US" sz="1900" dirty="0"/>
          </a:p>
        </p:txBody>
      </p:sp>
      <p:pic>
        <p:nvPicPr>
          <p:cNvPr id="17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818640" y="3364607"/>
            <a:ext cx="525648" cy="525661"/>
          </a:xfrm>
          <a:prstGeom prst="rect">
            <a:avLst/>
          </a:prstGeom>
        </p:spPr>
      </p:pic>
      <p:sp>
        <p:nvSpPr>
          <p:cNvPr id="18" name="Text 8"/>
          <p:cNvSpPr/>
          <p:nvPr/>
        </p:nvSpPr>
        <p:spPr>
          <a:xfrm>
            <a:off x="9566532" y="3364607"/>
            <a:ext cx="1641632" cy="3055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Reports</a:t>
            </a:r>
            <a:endParaRPr lang="en-US" sz="1900" dirty="0"/>
          </a:p>
        </p:txBody>
      </p:sp>
      <p:pic>
        <p:nvPicPr>
          <p:cNvPr id="19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83531" y="4331395"/>
            <a:ext cx="525648" cy="525661"/>
          </a:xfrm>
          <a:prstGeom prst="rect">
            <a:avLst/>
          </a:prstGeom>
        </p:spPr>
      </p:pic>
      <p:sp>
        <p:nvSpPr>
          <p:cNvPr id="20" name="Text 9"/>
          <p:cNvSpPr/>
          <p:nvPr/>
        </p:nvSpPr>
        <p:spPr>
          <a:xfrm>
            <a:off x="1731423" y="4331395"/>
            <a:ext cx="1641533" cy="3055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CSV Export</a:t>
            </a:r>
            <a:endParaRPr lang="en-US" sz="1900" dirty="0"/>
          </a:p>
        </p:txBody>
      </p:sp>
      <p:pic>
        <p:nvPicPr>
          <p:cNvPr id="2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595201" y="4331395"/>
            <a:ext cx="525648" cy="525661"/>
          </a:xfrm>
          <a:prstGeom prst="rect">
            <a:avLst/>
          </a:prstGeom>
        </p:spPr>
      </p:pic>
      <p:sp>
        <p:nvSpPr>
          <p:cNvPr id="22" name="Text 10"/>
          <p:cNvSpPr/>
          <p:nvPr/>
        </p:nvSpPr>
        <p:spPr>
          <a:xfrm>
            <a:off x="4343093" y="4331395"/>
            <a:ext cx="1641632" cy="611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Search &amp; Filters</a:t>
            </a:r>
            <a:endParaRPr lang="en-US" sz="1900" dirty="0"/>
          </a:p>
        </p:txBody>
      </p:sp>
      <p:sp>
        <p:nvSpPr>
          <p:cNvPr id="23" name="Text 11"/>
          <p:cNvSpPr/>
          <p:nvPr/>
        </p:nvSpPr>
        <p:spPr>
          <a:xfrm>
            <a:off x="983531" y="5142607"/>
            <a:ext cx="10834218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Each feature is presented in a rounded glass card with focused micro-interactions and live KPI tiles.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83531" y="729159"/>
            <a:ext cx="10224633" cy="3475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50" b="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Future Scope</a:t>
            </a:r>
            <a:endParaRPr lang="en-US" sz="2150" dirty="0"/>
          </a:p>
        </p:txBody>
      </p:sp>
      <p:sp>
        <p:nvSpPr>
          <p:cNvPr id="3" name="Shape 1"/>
          <p:cNvSpPr/>
          <p:nvPr/>
        </p:nvSpPr>
        <p:spPr>
          <a:xfrm>
            <a:off x="6089498" y="1191716"/>
            <a:ext cx="12700" cy="4937026"/>
          </a:xfrm>
          <a:prstGeom prst="roundRect">
            <a:avLst>
              <a:gd name="adj" fmla="val 334458"/>
            </a:avLst>
          </a:prstGeom>
          <a:solidFill>
            <a:srgbClr val="C6BDD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970831" y="1191716"/>
            <a:ext cx="5112317" cy="606723"/>
          </a:xfrm>
          <a:prstGeom prst="rect">
            <a:avLst/>
          </a:prstGeom>
          <a:solidFill>
            <a:srgbClr val="E0D7F4"/>
          </a:solidFill>
          <a:ln w="6350">
            <a:solidFill>
              <a:srgbClr val="C6BD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1078282" y="1299170"/>
            <a:ext cx="4903764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Email Notifications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078282" y="1507430"/>
            <a:ext cx="4903764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50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Automated alerts for maintenance, trips, and compliance.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6108547" y="1913434"/>
            <a:ext cx="5112317" cy="606723"/>
          </a:xfrm>
          <a:prstGeom prst="rect">
            <a:avLst/>
          </a:prstGeom>
          <a:solidFill>
            <a:srgbClr val="E0D7F4"/>
          </a:solidFill>
          <a:ln w="6350">
            <a:solidFill>
              <a:srgbClr val="C6BD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6209649" y="2020887"/>
            <a:ext cx="4903764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PDF Reports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209649" y="2229148"/>
            <a:ext cx="4903764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Printable, branded executive reports and export templates.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970831" y="2635151"/>
            <a:ext cx="5112317" cy="606723"/>
          </a:xfrm>
          <a:prstGeom prst="rect">
            <a:avLst/>
          </a:prstGeom>
          <a:solidFill>
            <a:srgbClr val="E0D7F4"/>
          </a:solidFill>
          <a:ln w="6350">
            <a:solidFill>
              <a:srgbClr val="C6BD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1078282" y="2742605"/>
            <a:ext cx="4903764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Dark Mode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078282" y="2950865"/>
            <a:ext cx="4903764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50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Low-light UI for drivers and control rooms.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6108547" y="3356868"/>
            <a:ext cx="5112317" cy="606723"/>
          </a:xfrm>
          <a:prstGeom prst="rect">
            <a:avLst/>
          </a:prstGeom>
          <a:solidFill>
            <a:srgbClr val="E0D7F4"/>
          </a:solidFill>
          <a:ln w="6350">
            <a:solidFill>
              <a:srgbClr val="C6BD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6209649" y="3464322"/>
            <a:ext cx="4903764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AI Route Optimization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209649" y="3672582"/>
            <a:ext cx="4903764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Cost and time reduction using traffic-aware routing.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970831" y="4078585"/>
            <a:ext cx="5112317" cy="606723"/>
          </a:xfrm>
          <a:prstGeom prst="rect">
            <a:avLst/>
          </a:prstGeom>
          <a:solidFill>
            <a:srgbClr val="E0D7F4"/>
          </a:solidFill>
          <a:ln w="6350">
            <a:solidFill>
              <a:srgbClr val="C6BD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1078282" y="4186039"/>
            <a:ext cx="4903764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GPS Tracking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078282" y="4394299"/>
            <a:ext cx="4903764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50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Real-time telematics integration and geofencing.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6108547" y="4800302"/>
            <a:ext cx="5112317" cy="606723"/>
          </a:xfrm>
          <a:prstGeom prst="rect">
            <a:avLst/>
          </a:prstGeom>
          <a:solidFill>
            <a:srgbClr val="E0D7F4"/>
          </a:solidFill>
          <a:ln w="6350">
            <a:solidFill>
              <a:srgbClr val="C6BD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6209649" y="4907756"/>
            <a:ext cx="4903764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Mobile Application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209649" y="5116016"/>
            <a:ext cx="4903764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Driver app for ELD, manifests, and status updates.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970831" y="5522020"/>
            <a:ext cx="5112317" cy="606723"/>
          </a:xfrm>
          <a:prstGeom prst="rect">
            <a:avLst/>
          </a:prstGeom>
          <a:solidFill>
            <a:srgbClr val="E0D7F4"/>
          </a:solidFill>
          <a:ln w="6350">
            <a:solidFill>
              <a:srgbClr val="C6BD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1078282" y="5629473"/>
            <a:ext cx="4903764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Predictive Maintenance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078282" y="5837734"/>
            <a:ext cx="4903764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50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Sensor-driven alerts and lifecycle forecasting.</a:t>
            </a:r>
            <a:endParaRPr lang="en-US" sz="7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83531" y="713879"/>
            <a:ext cx="10224633" cy="1353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8500" b="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Thank You</a:t>
            </a:r>
            <a:endParaRPr lang="en-US" sz="8500" dirty="0"/>
          </a:p>
        </p:txBody>
      </p:sp>
      <p:sp>
        <p:nvSpPr>
          <p:cNvPr id="3" name="Text 1"/>
          <p:cNvSpPr/>
          <p:nvPr/>
        </p:nvSpPr>
        <p:spPr>
          <a:xfrm>
            <a:off x="983531" y="2213074"/>
            <a:ext cx="10224633" cy="470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800" b="1" dirty="0">
                <a:solidFill>
                  <a:srgbClr val="FFD1A7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     Built with </a:t>
            </a:r>
            <a:r>
              <a:rPr lang="en-US" sz="28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❤️</a:t>
            </a:r>
            <a:r>
              <a:rPr lang="en-US" sz="2800" b="1" dirty="0">
                <a:solidFill>
                  <a:srgbClr val="FFD1A7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 for the Odoo Hackathon   </a:t>
            </a:r>
            <a:endParaRPr lang="en-US" sz="28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5453" y="2828727"/>
            <a:ext cx="2727852" cy="2727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83531" y="5677793"/>
            <a:ext cx="5051695" cy="22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Contact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983531" y="5961459"/>
            <a:ext cx="5051695" cy="182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6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team@velocitylabs.example</a:t>
            </a:r>
            <a:endParaRPr lang="en-US" sz="10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8291" y="2828727"/>
            <a:ext cx="2727951" cy="27280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56369" y="5677892"/>
            <a:ext cx="5051795" cy="22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Repo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6156369" y="5961559"/>
            <a:ext cx="5051795" cy="182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6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github.com/velocity-labs/transitops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543</Words>
  <Application>Microsoft Office PowerPoint</Application>
  <PresentationFormat>Widescreen</PresentationFormat>
  <Paragraphs>137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Petrona Bold</vt:lpstr>
      <vt:lpstr>Inter</vt:lpstr>
      <vt:lpstr>Twemoji Mozilla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Keshav Ranjan</cp:lastModifiedBy>
  <cp:revision>2</cp:revision>
  <dcterms:created xsi:type="dcterms:W3CDTF">2026-07-12T11:34:18Z</dcterms:created>
  <dcterms:modified xsi:type="dcterms:W3CDTF">2026-07-12T11:47:31Z</dcterms:modified>
</cp:coreProperties>
</file>